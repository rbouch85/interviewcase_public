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lifelines.readthedocs.io/en/latest/fitters/univariate/KaplanMeierFitter.html" TargetMode="External" /><Relationship Id="rId3" Type="http://schemas.openxmlformats.org/officeDocument/2006/relationships/hyperlink" Target="https://lifelines.readthedocs.io/en/latest/fitters/univariate/KaplanMeierFitter.html" TargetMode="External" /><Relationship Id="rId4" Type="http://schemas.openxmlformats.org/officeDocument/2006/relationships/hyperlink" Target="https://lifelines.readthedocs.io/en/latest/lifelines.datasets.html" TargetMode="External" /><Relationship Id="rId5" Type="http://schemas.openxmlformats.org/officeDocument/2006/relationships/hyperlink" Target="https://lifelines.readthedocs.io/en/latest/lifelines.datasets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Kaplan–Meier: Reading Time-to-Event Evidence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lifelines Waltons example</a:t>
            </a:r>
            <a:br/>
            <a:br/>
            <a:r>
              <a:rPr/>
              <a:t>InterviewCase Public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Kaplan–Meier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Explain what a Kaplan–Meier curve estimates.</a:t>
            </a:r>
          </a:p>
          <a:p>
            <a:pPr lvl="0"/>
            <a:r>
              <a:rPr/>
              <a:t>Identify an event, time origin, duration, groups, and right-censoring.</a:t>
            </a:r>
          </a:p>
          <a:p>
            <a:pPr lvl="0"/>
            <a:r>
              <a:rPr/>
              <a:t>Read confidence intervals and numbers at risk without overclaiming.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time-to-event analysis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time-to-event methods when both </a:t>
            </a:r>
            <a:r>
              <a:rPr b="1"/>
              <a:t>whether</a:t>
            </a:r>
            <a:r>
              <a:rPr/>
              <a:t> an event occurs and </a:t>
            </a:r>
            <a:r>
              <a:rPr b="1"/>
              <a:t>when</a:t>
            </a:r>
            <a:r>
              <a:rPr/>
              <a:t> it occurs matter.</a:t>
            </a:r>
          </a:p>
          <a:p>
            <a:pPr lvl="0"/>
            <a:r>
              <a:rPr/>
              <a:t>Examples: time to churn, failure, relapse, or adoption.</a:t>
            </a:r>
          </a:p>
          <a:p>
            <a:pPr lvl="0"/>
            <a:r>
              <a:rPr/>
              <a:t>Include units with incomplete follow-up when the event has not yet been observed.</a:t>
            </a:r>
          </a:p>
          <a:p>
            <a:pPr lvl="0"/>
            <a:r>
              <a:rPr/>
              <a:t>Define the event, time origin, follow-up duration, and censoring rule first.</a:t>
            </a:r>
          </a:p>
          <a:p>
            <a:pPr lvl="0" indent="0" marL="0">
              <a:buNone/>
            </a:pPr>
            <a:r>
              <a:rPr/>
              <a:t>KM alone does not adjust for other characteristics, establish causation, test a group difference, or handle competing events.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the curve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survival function, (S(t)), estimates the probability of remaining event-free beyond time (t).</a:t>
            </a:r>
          </a:p>
          <a:p>
            <a:pPr lvl="0"/>
            <a:r>
              <a:rPr/>
              <a:t>At an observed event time, the estimate steps down based on events among units still at risk.</a:t>
            </a:r>
          </a:p>
          <a:p>
            <a:pPr lvl="0"/>
            <a:r>
              <a:rPr/>
              <a:t>A right-censored unit contributes follow-up up to its last observed time, but is not counted as an event.</a:t>
            </a:r>
          </a:p>
          <a:p>
            <a:pPr lvl="0"/>
            <a:r>
              <a:rPr/>
              <a:t>Shaded confidence intervals show uncertainty; censor marks show censored times.</a:t>
            </a:r>
          </a:p>
          <a:p>
            <a:pPr lvl="0"/>
            <a:r>
              <a:rPr/>
              <a:t>The at-risk row shows how many observations support each part of the curve.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worked example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existing notebook uses the 163-observation Waltons dataset from </a:t>
            </a:r>
            <a:r>
              <a:rPr>
                <a:latin typeface="Courier"/>
              </a:rPr>
              <a:t>lifelines.datasets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Definition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Death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 origin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Birth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 unit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Days (</a:t>
                      </a:r>
                      <a:r>
                        <a:rPr>
                          <a:latin typeface="Courier"/>
                        </a:rPr>
                        <a:t>T</a:t>
                      </a:r>
                      <a:r>
                        <a:rPr/>
                        <a:t>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Event indicator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E=1</a:t>
                      </a:r>
                      <a:r>
                        <a:rPr/>
                        <a:t>: death observed; </a:t>
                      </a:r>
                      <a:r>
                        <a:rPr>
                          <a:latin typeface="Courier"/>
                        </a:rPr>
                        <a:t>E=0</a:t>
                      </a:r>
                      <a:r>
                        <a:rPr/>
                        <a:t>: right-censored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Groups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control</a:t>
                      </a:r>
                      <a:r>
                        <a:rPr/>
                        <a:t> and </a:t>
                      </a:r>
                      <a:r>
                        <a:rPr>
                          <a:latin typeface="Courier"/>
                        </a:rPr>
                        <a:t>miR-137</a:t>
                      </a:r>
                      <a:r>
                        <a:rPr/>
                        <a:t> genotype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dataset documentation describes censoring when natural death is not observed, including accidental killing or escape before natural death.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Saved group summaries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Deaths 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Censored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Follow-up through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58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75 days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miR-137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26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62 days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Overall median in the saved notebook: </a:t>
            </a:r>
            <a:r>
              <a:rPr b="1"/>
              <a:t>56 days</a:t>
            </a:r>
            <a:r>
              <a:rPr/>
              <a:t>. The median is when estimated event-free probability reaches 0.5.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aplan-Meier survival estimates by genotype. The x-axis is days since birth; shaded bands are 95% confidence intervals, plus signs mark right-censored observations, and the at-risk counts are shown below the plot.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4581" y="164592"/>
            <a:ext cx="7314838" cy="481431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 the number at risk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Counts transcribed from the saved figure: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miR-137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Only two miR-137 flies remain at risk at day 60. Late estimates are therefore uncertain and should not be read as stable evidence.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Assumptions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Censoring should be sufficiently non-informative: it should not conceal systematically different event risk.</a:t>
            </a:r>
          </a:p>
          <a:p>
            <a:pPr lvl="0"/>
            <a:r>
              <a:rPr/>
              <a:t>Event, time origin, and units must be consistent across groups.</a:t>
            </a:r>
          </a:p>
          <a:p>
            <a:pPr lvl="0"/>
            <a:r>
              <a:rPr/>
              <a:t>Follow-up support differs here: control is observed through day 75, miR-137 through day 62; group sizes and censoring also differ.</a:t>
            </a:r>
          </a:p>
          <a:p>
            <a:pPr lvl="0"/>
            <a:r>
              <a:rPr/>
              <a:t>KM is unadjusted. A curve or median difference alone is neither a causal conclusion nor a significance test.</a:t>
            </a:r>
          </a:p>
          <a:p>
            <a:pPr lvl="0"/>
            <a:r>
              <a:rPr/>
              <a:t>These results apply only to the Waltons teaching example—not customer retention.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KM uses censored follow-up to estimate event-free probability over time. Read the curve together with its confidence bands, censor marks, and number at risk—and keep conclusions descriptive unless a suitable design and additional analysis support more.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  <a:latin typeface="Courier"/>
              </a:rPr>
              <a:t>KaplanMeierFitter</a:t>
            </a:r>
            <a:r>
              <a:rPr>
                <a:hlinkClick r:id="rId3"/>
              </a:rPr>
              <a:t> API</a:t>
            </a:r>
          </a:p>
          <a:p>
            <a:pPr lvl="0"/>
            <a:r>
              <a:rPr>
                <a:hlinkClick r:id="rId4"/>
                <a:latin typeface="Courier"/>
              </a:rPr>
              <a:t>lifelines</a:t>
            </a:r>
            <a:r>
              <a:rPr>
                <a:hlinkClick r:id="rId5"/>
              </a:rPr>
              <a:t> datasets and Waltons data</a:t>
            </a:r>
          </a:p>
          <a:p>
            <a:pPr lvl="0"/>
            <a:r>
              <a:rPr/>
              <a:t>Saved analysis and figure: </a:t>
            </a:r>
            <a:r>
              <a:rPr>
                <a:latin typeface="Courier"/>
              </a:rPr>
              <a:t>kaplan_meier_waltons.ipynb</a:t>
            </a:r>
            <a:r>
              <a:rPr/>
              <a:t> and </a:t>
            </a:r>
            <a:r>
              <a:rPr>
                <a:latin typeface="Courier"/>
              </a:rPr>
              <a:t>outputs/figures/waltons_kaplan_meier.png</a:t>
            </a:r>
          </a:p>
          <a:p>
            <a:pPr lvl="0" indent="0" marL="0">
              <a:buNone/>
            </a:pPr>
            <a:r>
              <a:rPr/>
              <a:t>Rendering these slides does not execute the notebook, run Python analysis, or regenerate the figure. Use the report-only commands in the project README.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Kaplan–Meier: Reading Time-to-Event Evidence</dc:title>
  <dc:creator>InterviewCase Public</dc:creator>
  <cp:keywords/>
  <dcterms:created xsi:type="dcterms:W3CDTF">2026-09-30T02:46:55Z</dcterms:created>
  <dcterms:modified xsi:type="dcterms:W3CDTF">2026-09-30T02:46:55Z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A lifelines Waltons example</vt:lpwstr>
  </property>
  <property fmtid="{D5CDD505-2E9C-101B-9397-08002B2CF9AE}" pid="11" name="toc-title">
    <vt:lpwstr>Table of contents</vt:lpwstr>
  </property>
</Properties>
</file>